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035040" cy="6035040"/>
          </a:xfrm>
          <a:prstGeom prst="ellipse">
            <a:avLst/>
          </a:prstGeom>
          <a:solidFill>
            <a:srgbClr val="4E7A7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5486400" cy="5486400"/>
          </a:xfrm>
          <a:prstGeom prst="ellipse">
            <a:avLst/>
          </a:prstGeom>
          <a:solidFill>
            <a:srgbClr val="C8281E">
              <a:alpha val="18000"/>
            </a:srgbClr>
          </a:solidFill>
          <a:ln/>
        </p:spPr>
      </p:sp>
      <p:pic>
        <p:nvPicPr>
          <p:cNvPr id="4" name="Image 0" descr="C:/trabajos/HabilitacionesVB/assets/TEMA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1874520" cy="935933"/>
          </a:xfrm>
          <a:prstGeom prst="rect">
            <a:avLst/>
          </a:prstGeom>
        </p:spPr>
      </p:pic>
      <p:pic>
        <p:nvPicPr>
          <p:cNvPr id="5" name="Image 1" descr="C:/trabajos/HabilitacionesVB/assets/GH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2" y="621792"/>
            <a:ext cx="1965960" cy="6335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MIGRACIÓN TECNOLÓGICA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94360" y="22860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Excel/VBA a una plataforma</a:t>
            </a:r>
            <a:endParaRPr lang="en-US" sz="4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centralizada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658368" y="3886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seguridad, trazabilidad y escalabilidad para el proceso de habilitaciones y el control documental.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" y="480060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2E343D"/>
          </a:solidFill>
          <a:ln w="12700">
            <a:solidFill>
              <a:srgbClr val="3E44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Excel/VBA + SharePoint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950208" y="4800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0" y="480060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2E343D"/>
          </a:solidFill>
          <a:ln w="12700">
            <a:solidFill>
              <a:srgbClr val="3E44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centralizada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8368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  ·  Evaluación técnica y gerencial  ·  GHC — Gestión de Habilitaciones &amp; Control Documental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migrar ahora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669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proceso de habilitaciones vive en un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Excel con macros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cada usuario instala en su PC y sincroniza con SharePoint. La consistencia depende de que todos usen la misma versión.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una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centralizada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elimina las copias locales, reduce los riesgos operativos y convierte el proceso en un sistema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gobernado, auditable y escalable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disponible en tiempo real para todos.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es ahora: cuanto más crece el archivo, más frágil, lento y difícil de auditar se vuelve el modelo actual.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783080"/>
            <a:ext cx="48463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20840" y="1783080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Dolores del modelo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2008" y="2496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usuario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ejecuta y mantiene su propio archivo .xlsm.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2008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69480" y="325526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SharePoint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Conflictos, latencia y bloqueos al consolidar cambios.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2008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404164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monousuario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notificaciones diarias; sin acceso concurrente.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2008" y="48554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69480" y="482803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trazabilidad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auditar quién cambió qué, cuándo y con qué evidencia.</a:t>
            </a:r>
            <a:endParaRPr lang="en-US" sz="1300" dirty="0"/>
          </a:p>
        </p:txBody>
      </p:sp>
      <p:pic>
        <p:nvPicPr>
          <p:cNvPr id="15" name="Image 0" descr="C:/trabajos/HabilitacionesVB/assets/GH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19088"/>
            <a:ext cx="1078317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PARA EL PERSONAL OPERATIVO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Propuesta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proceso, visto como flujo de entradas → proceso → salidas.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1127455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10512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94560" y="17922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Excel/VBA + SharePoint (local)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(ENTRADAS)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manual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Excel .xlsm por usuario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SharePoint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usuario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67328" y="288036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26680" y="288036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33088" y="2231136"/>
            <a:ext cx="3630168" cy="1700784"/>
          </a:xfrm>
          <a:prstGeom prst="roundRect">
            <a:avLst>
              <a:gd name="adj" fmla="val 3763"/>
            </a:avLst>
          </a:prstGeom>
          <a:solidFill>
            <a:srgbClr val="23272E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2860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42816" y="2542032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de Habilitaciones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42816" y="2880360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(dependiente / sync SP)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42816" y="3218688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monousuario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42816" y="3557016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>
              <a:alpha val="55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pPr algn="l" indent="0" marL="0">
              <a:buNone/>
            </a:pPr>
            <a:r>
              <a:rPr lang="en-US" sz="10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integraciones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47304" y="2267712"/>
            <a:ext cx="335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(SALIDAS)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47304" y="2560320"/>
            <a:ext cx="3355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diarias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monousuario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dispersas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ni auditoría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1127455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20624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94560" y="41879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centralizada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6634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(ENTRADAS)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956048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en la plataforma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central y única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 de acceso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administrables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67328" y="527608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26680" y="527608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133088" y="4626864"/>
            <a:ext cx="3630168" cy="1700784"/>
          </a:xfrm>
          <a:prstGeom prst="roundRect">
            <a:avLst>
              <a:gd name="adj" fmla="val 3763"/>
            </a:avLst>
          </a:prstGeom>
          <a:solidFill>
            <a:srgbClr val="4E7A72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46817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42816" y="4937760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en la plataforma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42816" y="5276088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auditado (un solo lugar)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42816" y="5614416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multiusuario / multidispositivo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42816" y="5952744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iAUDITOR (tiempo real)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47304" y="4663440"/>
            <a:ext cx="335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(SALIDAS)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47304" y="4956048"/>
            <a:ext cx="3355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en tiempo real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auditoría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y alertas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por roles</a:t>
            </a:r>
            <a:endParaRPr lang="en-US" sz="1050" dirty="0"/>
          </a:p>
        </p:txBody>
      </p:sp>
      <p:pic>
        <p:nvPicPr>
          <p:cNvPr id="35" name="Image 0" descr="C:/trabajos/HabilitacionesVB/assets/GH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19088"/>
            <a:ext cx="1078317" cy="34747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incremental con mínimo riesgo, con convivencia temporal con el proceso actual.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para definir alcance, roles, permisos y flujos críticos.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79392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requerimiento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detallado de requerimientos funcionales y de negocio.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87184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backend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65392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central, reglas de negocio, autenticación y API.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72016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73184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94976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documental y reportes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473184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con auditoría; alertas de vencimiento, tableros y exportables.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9092" y="3886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80260" y="40873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02052" y="410565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SharePoint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080260" y="472744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carga/lectura vía Graph o almacenamiento propio.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86884" y="3886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8052" y="40873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09844" y="410565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corporativas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88052" y="472744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con iAuditor y Project Hub: proyectos, estados y evidencias.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94676" y="3886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95844" y="40873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17636" y="410565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y despliegue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895844" y="472744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controlado, pruebas, capacitación y despliegue progresivo.</a:t>
            </a:r>
            <a:endParaRPr lang="en-US" sz="1100" dirty="0"/>
          </a:p>
        </p:txBody>
      </p:sp>
      <p:pic>
        <p:nvPicPr>
          <p:cNvPr id="33" name="Image 0" descr="C:/trabajos/HabilitacionesVB/assets/GH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19088"/>
            <a:ext cx="1078317" cy="34747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560320"/>
            <a:ext cx="6583680" cy="6583680"/>
          </a:xfrm>
          <a:prstGeom prst="ellipse">
            <a:avLst/>
          </a:prstGeom>
          <a:solidFill>
            <a:srgbClr val="C8281E">
              <a:alpha val="1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657600"/>
            <a:ext cx="5120640" cy="5120640"/>
          </a:xfrm>
          <a:prstGeom prst="ellipse">
            <a:avLst/>
          </a:prstGeom>
          <a:solidFill>
            <a:srgbClr val="4E7A72">
              <a:alpha val="19000"/>
            </a:srgbClr>
          </a:solidFill>
          <a:ln/>
        </p:spPr>
      </p:sp>
      <p:pic>
        <p:nvPicPr>
          <p:cNvPr id="4" name="Image 0" descr="C:/trabajos/HabilitacionesVB/assets/TEMA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1874520" cy="935933"/>
          </a:xfrm>
          <a:prstGeom prst="rect">
            <a:avLst/>
          </a:prstGeom>
        </p:spPr>
      </p:pic>
      <p:pic>
        <p:nvPicPr>
          <p:cNvPr id="5" name="Image 1" descr="C:/trabajos/HabilitacionesVB/assets/GH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2" y="621792"/>
            <a:ext cx="1965960" cy="6335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40080" y="29718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piloto controlado y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la migración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685800" y="46177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incremental, capacitación por áreas y convivencia temporal con el proceso actual para una transición sin riesgo.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informativo · Migración de Excel/VBA a aplicación web · Evaluación técnica y gerencial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Migración Tecnológica</dc:title>
  <dc:subject>PptxGenJS Presentation</dc:subject>
  <dc:creator>GHC</dc:creator>
  <cp:lastModifiedBy>GHC</cp:lastModifiedBy>
  <cp:revision>1</cp:revision>
  <dcterms:created xsi:type="dcterms:W3CDTF">2026-07-13T23:49:13Z</dcterms:created>
  <dcterms:modified xsi:type="dcterms:W3CDTF">2026-07-13T23:49:13Z</dcterms:modified>
</cp:coreProperties>
</file>