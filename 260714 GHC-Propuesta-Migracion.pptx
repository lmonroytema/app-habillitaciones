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37" autoAdjust="0"/>
    <p:restoredTop sz="94610"/>
  </p:normalViewPr>
  <p:slideViewPr>
    <p:cSldViewPr snapToGrid="0" snapToObjects="1">
      <p:cViewPr>
        <p:scale>
          <a:sx n="87" d="100"/>
          <a:sy n="87" d="100"/>
        </p:scale>
        <p:origin x="30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439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035040" cy="6035040"/>
          </a:xfrm>
          <a:prstGeom prst="ellipse">
            <a:avLst/>
          </a:prstGeom>
          <a:solidFill>
            <a:srgbClr val="4E7A72">
              <a:alpha val="20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-2194560" y="4297680"/>
            <a:ext cx="5486400" cy="5486400"/>
          </a:xfrm>
          <a:prstGeom prst="ellipse">
            <a:avLst/>
          </a:prstGeom>
          <a:solidFill>
            <a:srgbClr val="C8281E">
              <a:alpha val="18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C:/trabajos/HabilitacionesVB/assets/TEMA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1874520" cy="935933"/>
          </a:xfrm>
          <a:prstGeom prst="rect">
            <a:avLst/>
          </a:prstGeom>
        </p:spPr>
      </p:pic>
      <p:pic>
        <p:nvPicPr>
          <p:cNvPr id="5" name="Image 1" descr="C:/trabajos/HabilitacionesVB/assets/GHC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621792"/>
            <a:ext cx="1965960" cy="6335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8368" y="1965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40" dirty="0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MIGRACIÓN TECNOLÓGICA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94360" y="22860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Excel/VBA a una plataforma</a:t>
            </a:r>
            <a:endParaRPr lang="en-US" sz="44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centralizada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658368" y="388620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7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seguridad, trazabilidad y escalabilidad para el proceso de habilitaciones y el control documental.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58368" y="480060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2E343D"/>
          </a:solidFill>
          <a:ln w="12700">
            <a:solidFill>
              <a:srgbClr val="3E44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Excel/VBA + SharePoint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950208" y="48006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572000" y="4800600"/>
            <a:ext cx="3383280" cy="502920"/>
          </a:xfrm>
          <a:prstGeom prst="roundRect">
            <a:avLst>
              <a:gd name="adj" fmla="val 18182"/>
            </a:avLst>
          </a:prstGeom>
          <a:solidFill>
            <a:srgbClr val="2E343D"/>
          </a:solidFill>
          <a:ln w="12700">
            <a:solidFill>
              <a:srgbClr val="3E444C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F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centralizada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58368" y="6035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  ·  Evaluación técnica y gerencial  ·  GHC — Gestión de Habilitaciones &amp; Control Documental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40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migrar ahora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5669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el proceso de habilitaciones vive en un </a:t>
            </a:r>
            <a:r>
              <a:rPr lang="en-US" sz="1500" b="1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Excel con macros</a:t>
            </a: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cada usuario instala en su PC y sincroniza con SharePoint. La consistencia depende de que todos usen la misma versión.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 una </a:t>
            </a:r>
            <a:r>
              <a:rPr lang="en-US" sz="1500" b="1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centralizada</a:t>
            </a: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elimina las copias locales, reduce los riesgos operativos y convierte el proceso en un sistema </a:t>
            </a:r>
            <a:r>
              <a:rPr lang="en-US" sz="1500" b="1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gobernado, auditable y escalable</a:t>
            </a: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disponible en tiempo real para todos.</a:t>
            </a: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endParaRPr lang="en-US" sz="15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500" dirty="0">
                <a:solidFill>
                  <a:srgbClr val="4A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momento es ahora: cuanto más crece el archivo, más frágil, lento y difícil de auditar se vuelve el modelo actual.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720840" y="1783080"/>
            <a:ext cx="48463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blurRad="101600" dist="38100" dir="5400000" algn="bl" rotWithShape="0">
              <a:srgbClr val="9AA0A8">
                <a:alpha val="3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720840" y="1783080"/>
            <a:ext cx="4846320" cy="548640"/>
          </a:xfrm>
          <a:prstGeom prst="roundRect">
            <a:avLst>
              <a:gd name="adj" fmla="val 16667"/>
            </a:avLst>
          </a:prstGeom>
          <a:solidFill>
            <a:srgbClr val="FBF1F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Dolores del modelo 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22008" y="2496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69480" y="24688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del usuario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persona ejecuta y mantiene su propio archivo .xlsm.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2008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69480" y="325526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SharePoint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Conflictos, latencia y bloqueos al consolidar cambios.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2008" y="4069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269480" y="404164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monousuario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notificaciones diarias; sin acceso concurrente.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2008" y="48554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69480" y="4828032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trazabilidad</a:t>
            </a:r>
            <a:endParaRPr lang="en-US" sz="13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auditar quién cambió qué, cuándo y con qué evidencia.</a:t>
            </a:r>
            <a:endParaRPr lang="en-US" sz="1300" dirty="0"/>
          </a:p>
        </p:txBody>
      </p:sp>
      <p:pic>
        <p:nvPicPr>
          <p:cNvPr id="15" name="Image 0" descr="C:/trabajos/HabilitacionesVB/assets/GH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19088"/>
            <a:ext cx="1078317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PE" sz="1150" b="1" kern="0" spc="240" noProof="1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PARA EL PERSONAL OPERATIVO</a:t>
            </a:r>
            <a:endParaRPr lang="es-PE" sz="1150" noProof="1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3000" b="1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Propuesta</a:t>
            </a:r>
            <a:endParaRPr lang="es-PE" sz="3000" noProof="1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1300" noProof="1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proceso, visto como flujo de entradas → proceso → salidas.</a:t>
            </a:r>
            <a:endParaRPr lang="es-PE" sz="1300" noProof="1"/>
          </a:p>
        </p:txBody>
      </p:sp>
      <p:sp>
        <p:nvSpPr>
          <p:cNvPr id="5" name="Shape 3"/>
          <p:cNvSpPr/>
          <p:nvPr/>
        </p:nvSpPr>
        <p:spPr>
          <a:xfrm>
            <a:off x="457200" y="1664208"/>
            <a:ext cx="1127455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blurRad="101600" dist="38100" dir="5400000" algn="bl" rotWithShape="0">
              <a:srgbClr val="9AA0A8">
                <a:alpha val="35000"/>
              </a:srgbClr>
            </a:outerShdw>
          </a:effectLst>
        </p:spPr>
        <p:txBody>
          <a:bodyPr/>
          <a:lstStyle/>
          <a:p>
            <a:endParaRPr lang="es-PE" noProof="1"/>
          </a:p>
        </p:txBody>
      </p:sp>
      <p:sp>
        <p:nvSpPr>
          <p:cNvPr id="6" name="Text 4"/>
          <p:cNvSpPr/>
          <p:nvPr/>
        </p:nvSpPr>
        <p:spPr>
          <a:xfrm>
            <a:off x="685800" y="1810512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sz="105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s-PE" sz="1050" noProof="1"/>
          </a:p>
        </p:txBody>
      </p:sp>
      <p:sp>
        <p:nvSpPr>
          <p:cNvPr id="7" name="Text 5"/>
          <p:cNvSpPr/>
          <p:nvPr/>
        </p:nvSpPr>
        <p:spPr>
          <a:xfrm>
            <a:off x="2194560" y="179222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1500" b="1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Excel/VBA + SharePoint (local)</a:t>
            </a:r>
            <a:endParaRPr lang="es-PE" sz="1500" noProof="1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900" b="1" kern="0" spc="120" noProof="1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(ENTRADAS)</a:t>
            </a:r>
            <a:endParaRPr lang="es-PE" sz="900" noProof="1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manual</a:t>
            </a:r>
            <a:endParaRPr lang="es-PE" sz="1050" noProof="1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Excel .xlsm por usuario</a:t>
            </a:r>
            <a:endParaRPr lang="es-PE" sz="1050" noProof="1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con SharePoint</a:t>
            </a:r>
            <a:endParaRPr lang="es-PE" sz="1050" noProof="1"/>
          </a:p>
          <a:p>
            <a:pPr>
              <a:lnSpc>
                <a:spcPct val="102000"/>
              </a:lnSpc>
              <a:spcAft>
                <a:spcPts val="300"/>
              </a:spcAft>
              <a:buSzPct val="100000"/>
            </a:pPr>
            <a:endParaRPr lang="es-PE" sz="1050" noProof="1">
              <a:solidFill>
                <a:srgbClr val="2327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02000"/>
              </a:lnSpc>
              <a:spcAft>
                <a:spcPts val="300"/>
              </a:spcAft>
              <a:buSzPct val="100000"/>
            </a:pPr>
            <a:r>
              <a:rPr lang="es-PE" sz="1050" noProof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*Dependencia del usuario</a:t>
            </a:r>
            <a:endParaRPr lang="es-PE" sz="1050" noProof="1">
              <a:solidFill>
                <a:srgbClr val="FF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767328" y="288036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sz="2000" b="1" noProof="1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PE" sz="2000" noProof="1"/>
          </a:p>
        </p:txBody>
      </p:sp>
      <p:sp>
        <p:nvSpPr>
          <p:cNvPr id="11" name="Text 9"/>
          <p:cNvSpPr/>
          <p:nvPr/>
        </p:nvSpPr>
        <p:spPr>
          <a:xfrm>
            <a:off x="7726680" y="2880360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sz="2000" b="1" noProof="1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PE" sz="2000" noProof="1"/>
          </a:p>
        </p:txBody>
      </p:sp>
      <p:sp>
        <p:nvSpPr>
          <p:cNvPr id="12" name="Shape 10"/>
          <p:cNvSpPr/>
          <p:nvPr/>
        </p:nvSpPr>
        <p:spPr>
          <a:xfrm>
            <a:off x="4133088" y="2231136"/>
            <a:ext cx="3630168" cy="1700784"/>
          </a:xfrm>
          <a:prstGeom prst="roundRect">
            <a:avLst>
              <a:gd name="adj" fmla="val 3763"/>
            </a:avLst>
          </a:prstGeom>
          <a:solidFill>
            <a:srgbClr val="23272E"/>
          </a:solidFill>
          <a:ln/>
        </p:spPr>
        <p:txBody>
          <a:bodyPr/>
          <a:lstStyle/>
          <a:p>
            <a:endParaRPr lang="es-PE" noProof="1"/>
          </a:p>
        </p:txBody>
      </p:sp>
      <p:sp>
        <p:nvSpPr>
          <p:cNvPr id="13" name="Text 11"/>
          <p:cNvSpPr/>
          <p:nvPr/>
        </p:nvSpPr>
        <p:spPr>
          <a:xfrm>
            <a:off x="4297680" y="228600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900" b="1" kern="0" spc="12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s-PE" sz="900" noProof="1"/>
          </a:p>
        </p:txBody>
      </p:sp>
      <p:sp>
        <p:nvSpPr>
          <p:cNvPr id="14" name="Text 12"/>
          <p:cNvSpPr/>
          <p:nvPr/>
        </p:nvSpPr>
        <p:spPr>
          <a:xfrm>
            <a:off x="4242816" y="2542032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A3E45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s-PE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</a:t>
            </a:r>
            <a:r>
              <a:rPr lang="es-PE" sz="1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de Habilitaciones</a:t>
            </a:r>
            <a:endParaRPr lang="es-PE" sz="1000" noProof="1"/>
          </a:p>
        </p:txBody>
      </p:sp>
      <p:sp>
        <p:nvSpPr>
          <p:cNvPr id="15" name="Text 13"/>
          <p:cNvSpPr/>
          <p:nvPr/>
        </p:nvSpPr>
        <p:spPr>
          <a:xfrm>
            <a:off x="4242816" y="2880360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A3E45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s-PE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r>
              <a:rPr lang="es-PE" sz="1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Registro: Dependiente de sync SP</a:t>
            </a:r>
            <a:endParaRPr lang="es-PE" sz="1000" noProof="1"/>
          </a:p>
        </p:txBody>
      </p:sp>
      <p:sp>
        <p:nvSpPr>
          <p:cNvPr id="16" name="Text 14"/>
          <p:cNvSpPr/>
          <p:nvPr/>
        </p:nvSpPr>
        <p:spPr>
          <a:xfrm>
            <a:off x="4242816" y="3218688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A3E45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s-PE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</a:t>
            </a:r>
            <a:r>
              <a:rPr lang="es-PE" sz="1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información: Monousuario y al final del día</a:t>
            </a:r>
            <a:endParaRPr lang="es-PE" sz="1000" noProof="1"/>
          </a:p>
        </p:txBody>
      </p:sp>
      <p:sp>
        <p:nvSpPr>
          <p:cNvPr id="17" name="Text 15"/>
          <p:cNvSpPr/>
          <p:nvPr/>
        </p:nvSpPr>
        <p:spPr>
          <a:xfrm>
            <a:off x="4242816" y="3557016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A3E45">
              <a:alpha val="55000"/>
            </a:srgbClr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s-PE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</a:t>
            </a:r>
            <a:r>
              <a:rPr lang="es-PE" sz="1000" noProof="1">
                <a:solidFill>
                  <a:srgbClr val="C9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Integraciones: Solo correos.</a:t>
            </a:r>
            <a:endParaRPr lang="es-PE" sz="1000" noProof="1"/>
          </a:p>
        </p:txBody>
      </p:sp>
      <p:sp>
        <p:nvSpPr>
          <p:cNvPr id="18" name="Text 16"/>
          <p:cNvSpPr/>
          <p:nvPr/>
        </p:nvSpPr>
        <p:spPr>
          <a:xfrm>
            <a:off x="8147304" y="2267712"/>
            <a:ext cx="3355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900" b="1" kern="0" spc="120" noProof="1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(SALIDAS)</a:t>
            </a:r>
            <a:endParaRPr lang="es-PE" sz="900" noProof="1"/>
          </a:p>
        </p:txBody>
      </p:sp>
      <p:sp>
        <p:nvSpPr>
          <p:cNvPr id="19" name="Text 17"/>
          <p:cNvSpPr/>
          <p:nvPr/>
        </p:nvSpPr>
        <p:spPr>
          <a:xfrm>
            <a:off x="8147304" y="2560320"/>
            <a:ext cx="3355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diarias</a:t>
            </a:r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(gestion integral de campo)</a:t>
            </a:r>
            <a:endParaRPr lang="es-PE" sz="1050" noProof="1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monousuario</a:t>
            </a:r>
            <a:endParaRPr lang="es-PE" sz="1050" noProof="1"/>
          </a:p>
          <a:p>
            <a:pPr>
              <a:lnSpc>
                <a:spcPct val="102000"/>
              </a:lnSpc>
              <a:spcAft>
                <a:spcPts val="300"/>
              </a:spcAft>
              <a:buSzPct val="100000"/>
            </a:pPr>
            <a:endParaRPr lang="es-PE" sz="1050" noProof="1">
              <a:solidFill>
                <a:srgbClr val="2327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02000"/>
              </a:lnSpc>
              <a:spcAft>
                <a:spcPts val="300"/>
              </a:spcAft>
              <a:buSzPct val="100000"/>
            </a:pPr>
            <a:r>
              <a:rPr lang="es-PE" sz="1050" noProof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*Versiones dispersas</a:t>
            </a:r>
            <a:endParaRPr lang="es-PE" sz="1050" noProof="1">
              <a:solidFill>
                <a:srgbClr val="FF0000"/>
              </a:solidFill>
            </a:endParaRPr>
          </a:p>
          <a:p>
            <a:pPr>
              <a:lnSpc>
                <a:spcPct val="102000"/>
              </a:lnSpc>
              <a:spcAft>
                <a:spcPts val="300"/>
              </a:spcAft>
              <a:buSzPct val="100000"/>
            </a:pPr>
            <a:r>
              <a:rPr lang="es-PE" sz="1050" noProof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*Sin trazabilidad ni auditoría</a:t>
            </a:r>
            <a:endParaRPr lang="es-PE" sz="1050" noProof="1">
              <a:solidFill>
                <a:srgbClr val="FF000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11274552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blurRad="101600" dist="38100" dir="5400000" algn="bl" rotWithShape="0">
              <a:srgbClr val="9AA0A8">
                <a:alpha val="35000"/>
              </a:srgbClr>
            </a:outerShdw>
          </a:effectLst>
        </p:spPr>
        <p:txBody>
          <a:bodyPr/>
          <a:lstStyle/>
          <a:p>
            <a:endParaRPr lang="es-PE" noProof="1"/>
          </a:p>
        </p:txBody>
      </p:sp>
      <p:sp>
        <p:nvSpPr>
          <p:cNvPr id="21" name="Text 19"/>
          <p:cNvSpPr/>
          <p:nvPr/>
        </p:nvSpPr>
        <p:spPr>
          <a:xfrm>
            <a:off x="685800" y="4206240"/>
            <a:ext cx="1371600" cy="329184"/>
          </a:xfrm>
          <a:prstGeom prst="roundRect">
            <a:avLst>
              <a:gd name="adj" fmla="val 22222"/>
            </a:avLst>
          </a:prstGeom>
          <a:solidFill>
            <a:srgbClr val="4E7A7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sz="105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s-PE" sz="1050" noProof="1"/>
          </a:p>
        </p:txBody>
      </p:sp>
      <p:sp>
        <p:nvSpPr>
          <p:cNvPr id="22" name="Text 20"/>
          <p:cNvSpPr/>
          <p:nvPr/>
        </p:nvSpPr>
        <p:spPr>
          <a:xfrm>
            <a:off x="2194560" y="41879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1500" b="1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centralizada</a:t>
            </a:r>
            <a:endParaRPr lang="es-PE" sz="1500" noProof="1"/>
          </a:p>
        </p:txBody>
      </p:sp>
      <p:sp>
        <p:nvSpPr>
          <p:cNvPr id="23" name="Text 21"/>
          <p:cNvSpPr/>
          <p:nvPr/>
        </p:nvSpPr>
        <p:spPr>
          <a:xfrm>
            <a:off x="685800" y="4663440"/>
            <a:ext cx="3063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900" b="1" kern="0" spc="120" noProof="1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(ENTRADAS)</a:t>
            </a:r>
            <a:endParaRPr lang="es-PE" sz="900" noProof="1"/>
          </a:p>
        </p:txBody>
      </p:sp>
      <p:sp>
        <p:nvSpPr>
          <p:cNvPr id="24" name="Text 22"/>
          <p:cNvSpPr/>
          <p:nvPr/>
        </p:nvSpPr>
        <p:spPr>
          <a:xfrm>
            <a:off x="685800" y="4956048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en la plataforma</a:t>
            </a:r>
            <a:endParaRPr lang="es-PE" sz="1050" noProof="1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central y única</a:t>
            </a:r>
            <a:endParaRPr lang="es-PE" sz="1050" noProof="1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 de acceso</a:t>
            </a:r>
            <a:endParaRPr lang="es-PE" sz="1050" noProof="1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administrables</a:t>
            </a:r>
            <a:endParaRPr lang="es-PE" sz="1050" noProof="1"/>
          </a:p>
        </p:txBody>
      </p:sp>
      <p:sp>
        <p:nvSpPr>
          <p:cNvPr id="25" name="Text 23"/>
          <p:cNvSpPr/>
          <p:nvPr/>
        </p:nvSpPr>
        <p:spPr>
          <a:xfrm>
            <a:off x="3767328" y="5276088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sz="2000" b="1" noProof="1">
                <a:solidFill>
                  <a:srgbClr val="4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PE" sz="2000" noProof="1"/>
          </a:p>
        </p:txBody>
      </p:sp>
      <p:sp>
        <p:nvSpPr>
          <p:cNvPr id="26" name="Text 24"/>
          <p:cNvSpPr/>
          <p:nvPr/>
        </p:nvSpPr>
        <p:spPr>
          <a:xfrm>
            <a:off x="7726680" y="5276088"/>
            <a:ext cx="4023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PE" sz="2000" b="1" noProof="1">
                <a:solidFill>
                  <a:srgbClr val="4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s-PE" sz="2000" noProof="1"/>
          </a:p>
        </p:txBody>
      </p:sp>
      <p:sp>
        <p:nvSpPr>
          <p:cNvPr id="27" name="Shape 25"/>
          <p:cNvSpPr/>
          <p:nvPr/>
        </p:nvSpPr>
        <p:spPr>
          <a:xfrm>
            <a:off x="4133088" y="4626864"/>
            <a:ext cx="3630168" cy="1700784"/>
          </a:xfrm>
          <a:prstGeom prst="roundRect">
            <a:avLst>
              <a:gd name="adj" fmla="val 3763"/>
            </a:avLst>
          </a:prstGeom>
          <a:solidFill>
            <a:srgbClr val="4E7A72"/>
          </a:solidFill>
          <a:ln/>
        </p:spPr>
        <p:txBody>
          <a:bodyPr/>
          <a:lstStyle/>
          <a:p>
            <a:endParaRPr lang="es-PE" noProof="1"/>
          </a:p>
        </p:txBody>
      </p:sp>
      <p:sp>
        <p:nvSpPr>
          <p:cNvPr id="28" name="Text 26"/>
          <p:cNvSpPr/>
          <p:nvPr/>
        </p:nvSpPr>
        <p:spPr>
          <a:xfrm>
            <a:off x="4297680" y="4681728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900" b="1" kern="0" spc="12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s-PE" sz="900" noProof="1"/>
          </a:p>
        </p:txBody>
      </p:sp>
      <p:sp>
        <p:nvSpPr>
          <p:cNvPr id="29" name="Text 27"/>
          <p:cNvSpPr/>
          <p:nvPr/>
        </p:nvSpPr>
        <p:spPr>
          <a:xfrm>
            <a:off x="4242816" y="4937760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F665F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s-PE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</a:t>
            </a:r>
            <a:r>
              <a:rPr lang="es-PE" sz="1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 en la Plataforma</a:t>
            </a:r>
            <a:endParaRPr lang="es-PE" sz="1000" noProof="1"/>
          </a:p>
        </p:txBody>
      </p:sp>
      <p:sp>
        <p:nvSpPr>
          <p:cNvPr id="30" name="Text 28"/>
          <p:cNvSpPr/>
          <p:nvPr/>
        </p:nvSpPr>
        <p:spPr>
          <a:xfrm>
            <a:off x="4242816" y="5276088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F665F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s-PE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</a:t>
            </a:r>
            <a:r>
              <a:rPr lang="es-PE" sz="1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Registro: En línea / tiempo real</a:t>
            </a:r>
            <a:endParaRPr lang="es-PE" sz="1000" noProof="1"/>
          </a:p>
        </p:txBody>
      </p:sp>
      <p:sp>
        <p:nvSpPr>
          <p:cNvPr id="31" name="Text 29"/>
          <p:cNvSpPr/>
          <p:nvPr/>
        </p:nvSpPr>
        <p:spPr>
          <a:xfrm>
            <a:off x="4242816" y="5614416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F665F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s-PE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</a:t>
            </a:r>
            <a:r>
              <a:rPr lang="es-PE" sz="1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información: Multiusuario / multidispositivo</a:t>
            </a:r>
            <a:endParaRPr lang="es-PE" sz="1000" noProof="1"/>
          </a:p>
        </p:txBody>
      </p:sp>
      <p:sp>
        <p:nvSpPr>
          <p:cNvPr id="32" name="Text 30"/>
          <p:cNvSpPr/>
          <p:nvPr/>
        </p:nvSpPr>
        <p:spPr>
          <a:xfrm>
            <a:off x="4242816" y="5952744"/>
            <a:ext cx="3410712" cy="283464"/>
          </a:xfrm>
          <a:prstGeom prst="roundRect">
            <a:avLst>
              <a:gd name="adj" fmla="val 16129"/>
            </a:avLst>
          </a:prstGeom>
          <a:solidFill>
            <a:srgbClr val="3F665F"/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wrap="square" lIns="25400" tIns="76200" rIns="76200" bIns="25400" rtlCol="0" anchor="ctr"/>
          <a:lstStyle/>
          <a:p>
            <a:pPr marL="0" indent="0" algn="l">
              <a:buNone/>
            </a:pPr>
            <a:r>
              <a:rPr lang="es-PE" sz="1000" b="1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</a:t>
            </a:r>
            <a:r>
              <a:rPr lang="es-PE" sz="1000" noProof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Integraciones: Correo, aplicaciones (iAUDITOR, …)</a:t>
            </a:r>
            <a:endParaRPr lang="es-PE" sz="1000" noProof="1"/>
          </a:p>
        </p:txBody>
      </p:sp>
      <p:sp>
        <p:nvSpPr>
          <p:cNvPr id="33" name="Text 31"/>
          <p:cNvSpPr/>
          <p:nvPr/>
        </p:nvSpPr>
        <p:spPr>
          <a:xfrm>
            <a:off x="8147304" y="4663440"/>
            <a:ext cx="335584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PE" sz="900" b="1" kern="0" spc="120" noProof="1">
                <a:solidFill>
                  <a:srgbClr val="4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(SALIDAS)</a:t>
            </a:r>
            <a:endParaRPr lang="es-PE" sz="900" noProof="1"/>
          </a:p>
        </p:txBody>
      </p:sp>
      <p:sp>
        <p:nvSpPr>
          <p:cNvPr id="34" name="Text 32"/>
          <p:cNvSpPr/>
          <p:nvPr/>
        </p:nvSpPr>
        <p:spPr>
          <a:xfrm>
            <a:off x="8147304" y="4869788"/>
            <a:ext cx="33558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de requerimiento (automático)</a:t>
            </a:r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FontTx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en tiempo real:</a:t>
            </a:r>
          </a:p>
          <a:p>
            <a:pPr marL="635000" lvl="1" indent="-177800">
              <a:lnSpc>
                <a:spcPct val="102000"/>
              </a:lnSpc>
              <a:spcAft>
                <a:spcPts val="300"/>
              </a:spcAft>
              <a:buSzPct val="100000"/>
              <a:buFontTx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y alertas</a:t>
            </a:r>
            <a:endParaRPr lang="es-PE" sz="1050" noProof="1"/>
          </a:p>
          <a:p>
            <a:pPr marL="635000" lvl="1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r>
              <a:rPr lang="es-PE" sz="1050" noProof="1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multiusario</a:t>
            </a:r>
            <a:endParaRPr lang="es-PE" sz="1050" noProof="1"/>
          </a:p>
          <a:p>
            <a:pPr marL="177800" indent="-177800">
              <a:lnSpc>
                <a:spcPct val="102000"/>
              </a:lnSpc>
              <a:spcAft>
                <a:spcPts val="300"/>
              </a:spcAft>
              <a:buSzPct val="100000"/>
              <a:buChar char="•"/>
            </a:pPr>
            <a:endParaRPr lang="es-PE" sz="1050" noProof="1">
              <a:solidFill>
                <a:srgbClr val="2327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02000"/>
              </a:lnSpc>
              <a:spcAft>
                <a:spcPts val="300"/>
              </a:spcAft>
              <a:buSzPct val="100000"/>
            </a:pPr>
            <a:r>
              <a:rPr lang="es-PE" sz="1050" b="1" noProof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*Trazabilidad y auditoría</a:t>
            </a:r>
            <a:endParaRPr lang="es-PE" sz="1050" b="1" noProof="1">
              <a:solidFill>
                <a:srgbClr val="00B050"/>
              </a:solidFill>
            </a:endParaRPr>
          </a:p>
          <a:p>
            <a:pPr>
              <a:lnSpc>
                <a:spcPct val="102000"/>
              </a:lnSpc>
              <a:spcAft>
                <a:spcPts val="300"/>
              </a:spcAft>
              <a:buSzPct val="100000"/>
            </a:pPr>
            <a:r>
              <a:rPr lang="es-PE" sz="1050" b="1" noProof="1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*Gobernanza por roles</a:t>
            </a:r>
            <a:endParaRPr lang="es-PE" sz="1050" b="1" noProof="1">
              <a:solidFill>
                <a:srgbClr val="00B050"/>
              </a:solidFill>
            </a:endParaRPr>
          </a:p>
        </p:txBody>
      </p:sp>
      <p:pic>
        <p:nvPicPr>
          <p:cNvPr id="35" name="Image 0" descr="C:/trabajos/HabilitacionesVB/assets/GH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19088"/>
            <a:ext cx="1078317" cy="34747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PE" sz="900" noProof="1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PE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40" dirty="0">
                <a:solidFill>
                  <a:srgbClr val="C82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IMPLEMENTACIÓN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incremental con mínimo riesgo, con convivencia temporal con el proceso actual.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blurRad="101600" dist="38100" dir="5400000" algn="bl" rotWithShape="0">
              <a:srgbClr val="9AA0A8">
                <a:alpha val="3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749808" y="20756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09397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7157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para definir alcance, roles, permisos y flujos críticos.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blurRad="101600" dist="38100" dir="5400000" algn="bl" rotWithShape="0">
              <a:srgbClr val="9AA0A8">
                <a:alpha val="3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3657600" y="20756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E7A7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79392" y="209397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de requerimiento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0" y="27157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detallado de requerimientos funcionales y de negocio.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64224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blurRad="101600" dist="38100" dir="5400000" algn="bl" rotWithShape="0">
              <a:srgbClr val="9AA0A8">
                <a:alpha val="3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565392" y="20756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87184" y="209397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y backend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65392" y="27157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central, reglas de negocio, autenticación y API.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72016" y="187452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blurRad="101600" dist="38100" dir="5400000" algn="bl" rotWithShape="0">
              <a:srgbClr val="9AA0A8">
                <a:alpha val="3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9473184" y="20756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E7A7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94976" y="209397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documental y reportes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473184" y="27157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con auditoría; alertas de vencimiento, tableros y exportables.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9092" y="38862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blurRad="101600" dist="38100" dir="5400000" algn="bl" rotWithShape="0">
              <a:srgbClr val="9AA0A8">
                <a:alpha val="3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2080260" y="40873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702052" y="410565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SharePoint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080260" y="472744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carga/lectura vía Graph o almacenamiento propio.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86884" y="38862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blurRad="101600" dist="38100" dir="5400000" algn="bl" rotWithShape="0">
              <a:srgbClr val="9AA0A8">
                <a:alpha val="3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4988052" y="40873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4E7A7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09844" y="410565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corporativas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988052" y="472744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con iAuditor y Project Hub: proyectos, estados y evidencias.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694676" y="3886200"/>
            <a:ext cx="2615184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4E6E8"/>
            </a:solidFill>
            <a:prstDash val="solid"/>
          </a:ln>
          <a:effectLst>
            <a:outerShdw blurRad="101600" dist="38100" dir="5400000" algn="bl" rotWithShape="0">
              <a:srgbClr val="9AA0A8">
                <a:alpha val="35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7895844" y="408736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8281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17636" y="4105656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y despliegue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895844" y="472744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controlado, pruebas, capacitación y despliegue progresivo.</a:t>
            </a:r>
            <a:endParaRPr lang="en-US" sz="1100" dirty="0"/>
          </a:p>
        </p:txBody>
      </p:sp>
      <p:pic>
        <p:nvPicPr>
          <p:cNvPr id="33" name="Image 0" descr="C:/trabajos/HabilitacionesVB/assets/GHC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19088"/>
            <a:ext cx="1078317" cy="34747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7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560320"/>
            <a:ext cx="6583680" cy="6583680"/>
          </a:xfrm>
          <a:prstGeom prst="ellipse">
            <a:avLst/>
          </a:prstGeom>
          <a:solidFill>
            <a:srgbClr val="C8281E">
              <a:alpha val="1900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-2011680" y="3657600"/>
            <a:ext cx="5120640" cy="5120640"/>
          </a:xfrm>
          <a:prstGeom prst="ellipse">
            <a:avLst/>
          </a:prstGeom>
          <a:solidFill>
            <a:srgbClr val="4E7A72">
              <a:alpha val="19000"/>
            </a:srgbClr>
          </a:solidFill>
          <a:ln/>
        </p:spPr>
        <p:txBody>
          <a:bodyPr/>
          <a:lstStyle/>
          <a:p>
            <a:endParaRPr lang="es-PE"/>
          </a:p>
        </p:txBody>
      </p:sp>
      <p:pic>
        <p:nvPicPr>
          <p:cNvPr id="4" name="Image 0" descr="C:/trabajos/HabilitacionesVB/assets/TEMA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1874520" cy="935933"/>
          </a:xfrm>
          <a:prstGeom prst="rect">
            <a:avLst/>
          </a:prstGeom>
        </p:spPr>
      </p:pic>
      <p:pic>
        <p:nvPicPr>
          <p:cNvPr id="5" name="Image 1" descr="C:/trabajos/HabilitacionesVB/assets/GHC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621792"/>
            <a:ext cx="1965960" cy="6335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858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kern="0" spc="240" dirty="0">
                <a:solidFill>
                  <a:srgbClr val="F09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40080" y="297180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el piloto controlado y</a:t>
            </a:r>
            <a:endParaRPr lang="en-US" sz="400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la migración</a:t>
            </a:r>
            <a:endParaRPr lang="en-US" sz="4000" dirty="0"/>
          </a:p>
        </p:txBody>
      </p:sp>
      <p:sp>
        <p:nvSpPr>
          <p:cNvPr id="8" name="Text 4"/>
          <p:cNvSpPr/>
          <p:nvPr/>
        </p:nvSpPr>
        <p:spPr>
          <a:xfrm>
            <a:off x="685800" y="4617720"/>
            <a:ext cx="8778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7DA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incremental, capacitación por áreas y convivencia temporal con el proceso actual para una transición sin riesgo.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5800" y="612648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informativo · Migración de Excel/VBA a aplicación web · Evaluación técnica y gerencial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587</Words>
  <Application>Microsoft Office PowerPoint</Application>
  <PresentationFormat>Panorámica</PresentationFormat>
  <Paragraphs>112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de Migración Tecnológica</dc:title>
  <dc:subject>PptxGenJS Presentation</dc:subject>
  <dc:creator>GHC</dc:creator>
  <cp:lastModifiedBy>Luis Monroy Sovero</cp:lastModifiedBy>
  <cp:revision>11</cp:revision>
  <dcterms:created xsi:type="dcterms:W3CDTF">2026-07-13T23:49:13Z</dcterms:created>
  <dcterms:modified xsi:type="dcterms:W3CDTF">2026-07-14T20:45:15Z</dcterms:modified>
</cp:coreProperties>
</file>